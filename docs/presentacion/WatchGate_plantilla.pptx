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lag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959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tchgat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777240"/>
            <a:ext cx="1582220" cy="1508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96112" y="26974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 spc="100">
                <a:solidFill>
                  <a:srgbClr val="00ADCB"/>
                </a:solidFill>
                <a:latin typeface="Lato"/>
              </a:rPr>
              <a:t>CÁTEDRA DE CIBERSEGURIDAD · UNIVERSIDAD DE MÁLAGA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20040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Lato"/>
              </a:rPr>
              <a:t>Watch</a:t>
            </a:r>
            <a:r>
              <a:rPr sz="6600" b="1" i="0">
                <a:solidFill>
                  <a:srgbClr val="00ADCB"/>
                </a:solidFill>
                <a:latin typeface="Lato"/>
              </a:rPr>
              <a:t>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452628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PT Serif"/>
              </a:rPr>
              <a:t>Sistema de </a:t>
            </a:r>
            <a:r>
              <a:rPr sz="1800" b="0" i="1">
                <a:solidFill>
                  <a:srgbClr val="FFFFFF"/>
                </a:solidFill>
                <a:latin typeface="PT Serif"/>
              </a:rPr>
              <a:t>scoring</a:t>
            </a:r>
            <a:r>
              <a:rPr sz="1800" b="0" i="0">
                <a:solidFill>
                  <a:srgbClr val="FFFFFF"/>
                </a:solidFill>
                <a:latin typeface="PT Serif"/>
              </a:rPr>
              <a:t> de riesgo para la revisión automatizada de </a:t>
            </a:r>
            <a:r>
              <a:rPr sz="1800" b="0" i="1">
                <a:solidFill>
                  <a:srgbClr val="FFFFFF"/>
                </a:solidFill>
                <a:latin typeface="PT Serif"/>
              </a:rPr>
              <a:t>pull requests</a:t>
            </a:r>
            <a:r>
              <a:rPr sz="1800" b="0" i="0">
                <a:solidFill>
                  <a:srgbClr val="FFFFFF"/>
                </a:solidFill>
                <a:latin typeface="PT Serif"/>
              </a:rPr>
              <a:t> en pipelines CI/CD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58064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PT Serif"/>
              </a:rPr>
              <a:t>Javier Martín Jurado · Pablo Jiménez Castro · Pablo Ayllón García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 i="0">
                <a:solidFill>
                  <a:srgbClr val="C5D0DE"/>
                </a:solidFill>
                <a:latin typeface="PT Serif"/>
              </a:rPr>
              <a:t>Málaga, 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ÍNDICE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2120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01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El problema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02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Estado del arte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03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Arquitectura general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04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El contrato entre capas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05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Las cinco capas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600200"/>
            <a:ext cx="52120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06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estática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07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de dependencias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08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de vulnerabilidades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09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de reputación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10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semántica (opcional)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11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Flujo con agentes de IA (MCP)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TÍTULO DE LA SECCIÓN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900" b="0" i="0">
                <a:solidFill>
                  <a:srgbClr val="14202E"/>
                </a:solidFill>
                <a:latin typeface="PT Serif"/>
              </a:rPr>
              <a:t>Frase-tesis en una línea: la idea que quieres que se lleven de esta diapositiva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 i="0">
                <a:solidFill>
                  <a:srgbClr val="4B586A"/>
                </a:solidFill>
                <a:latin typeface="PT Serif"/>
              </a:rPr>
              <a:t>Párrafo de apoyo en gris, 2–3 líneas como máximo. Aquí va el matiz, el dato concreto o el ejemplo que sostiene la frase de arriba. Evita listas largas: una idea por diapositiva.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3300984"/>
            <a:ext cx="146304" cy="5715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Viñeta con el marcador cian rectangular, como en la memoria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3867912"/>
            <a:ext cx="146304" cy="5715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67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Segunda idea, al mismo nivel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434840"/>
            <a:ext cx="146304" cy="5715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34256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1">
                <a:solidFill>
                  <a:srgbClr val="14202E"/>
                </a:solidFill>
                <a:latin typeface="PT Serif"/>
              </a:rPr>
              <a:t>Sub-idea o cita textual, en cursiva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ARQUITECTURA GENERAL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Un núcleo agnóstico de plataforma · cuatro capas deterministas · la capa LLM es </a:t>
            </a:r>
            <a:r>
              <a:rPr sz="1500" b="1" i="0">
                <a:solidFill>
                  <a:srgbClr val="123A66"/>
                </a:solidFill>
                <a:latin typeface="PT Serif"/>
              </a:rPr>
              <a:t>opcional</a:t>
            </a:r>
          </a:p>
        </p:txBody>
      </p:sp>
      <p:pic>
        <p:nvPicPr>
          <p:cNvPr id="6" name="Picture 5" descr="diagrama_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544" y="1444752"/>
            <a:ext cx="6614607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FLUJO CON AGENTES DE IA (MCP)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El agente llama al servidor MCP </a:t>
            </a:r>
            <a:r>
              <a:rPr sz="1500" b="1" i="0">
                <a:solidFill>
                  <a:srgbClr val="123A66"/>
                </a:solidFill>
                <a:latin typeface="PT Serif"/>
              </a:rPr>
              <a:t>antes de abrir el PR</a:t>
            </a:r>
            <a:r>
              <a:rPr sz="1500" b="0" i="0">
                <a:solidFill>
                  <a:srgbClr val="14202E"/>
                </a:solidFill>
                <a:latin typeface="PT Serif"/>
              </a:rPr>
              <a:t> — mismo núcleo de WatchGate, shift-left</a:t>
            </a:r>
          </a:p>
        </p:txBody>
      </p:sp>
      <p:pic>
        <p:nvPicPr>
          <p:cNvPr id="6" name="Picture 5" descr="diagrama_mcp_ag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134" y="1444752"/>
            <a:ext cx="7593426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TRES COLUMNAS / TARJETAS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900" b="0" i="0">
                <a:solidFill>
                  <a:srgbClr val="14202E"/>
                </a:solidFill>
                <a:latin typeface="PT Serif"/>
              </a:rPr>
              <a:t>Para comparativas de 3 elementos: casos reales, alternativas, fases…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86000"/>
            <a:ext cx="3611880" cy="2606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12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514600"/>
            <a:ext cx="31729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900" b="0" i="0">
                <a:solidFill>
                  <a:srgbClr val="00ADCB"/>
                </a:solidFill>
                <a:latin typeface="Roboto Mono"/>
              </a:rPr>
              <a:t>2024 · CVE-2024-3094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700" b="1" i="0">
                <a:solidFill>
                  <a:srgbClr val="123A66"/>
                </a:solidFill>
                <a:latin typeface="Lato"/>
              </a:rPr>
              <a:t>XZ Utils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50" b="0" i="0">
                <a:solidFill>
                  <a:srgbClr val="4B586A"/>
                </a:solidFill>
                <a:latin typeface="PT Serif"/>
              </a:rPr>
              <a:t>Puerta trasera en liblzma introducida por un colaborador de confianza; el payload vivía en ficheros de test y scripts de build.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286000"/>
            <a:ext cx="3611880" cy="2606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12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514600"/>
            <a:ext cx="31729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900" b="0" i="0">
                <a:solidFill>
                  <a:srgbClr val="00ADCB"/>
                </a:solidFill>
                <a:latin typeface="Roboto Mono"/>
              </a:rPr>
              <a:t>2026 · AUR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700" b="1" i="0">
                <a:solidFill>
                  <a:srgbClr val="123A66"/>
                </a:solidFill>
                <a:latin typeface="Lato"/>
              </a:rPr>
              <a:t>Atomic Arch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50" b="0" i="0">
                <a:solidFill>
                  <a:srgbClr val="4B586A"/>
                </a:solidFill>
                <a:latin typeface="PT Serif"/>
              </a:rPr>
              <a:t>Más de 1.500 paquetes comprometidos falsificando nombre y correo de commits anteriores para simular continuidad.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02752" y="2286000"/>
            <a:ext cx="3611880" cy="2606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12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514600"/>
            <a:ext cx="31729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900" b="0" i="0">
                <a:solidFill>
                  <a:srgbClr val="00ADCB"/>
                </a:solidFill>
                <a:latin typeface="Roboto Mono"/>
              </a:rPr>
              <a:t>2026 · Wiz Research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700" b="1" i="0">
                <a:solidFill>
                  <a:srgbClr val="123A66"/>
                </a:solidFill>
                <a:latin typeface="Lato"/>
              </a:rPr>
              <a:t>prt-scan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50" b="0" i="0">
                <a:solidFill>
                  <a:srgbClr val="4B586A"/>
                </a:solidFill>
                <a:latin typeface="PT Serif"/>
              </a:rPr>
              <a:t>Seis cuentas generando PRs maliciosos a escala con IA, con el payload adaptado al lenguaje de cada repositorio.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TABLA COMPARATIVA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900" b="0" i="0">
                <a:solidFill>
                  <a:srgbClr val="14202E"/>
                </a:solidFill>
                <a:latin typeface="PT Serif"/>
              </a:rPr>
              <a:t>Cabecera navy, filas alternas, la fila de WatchGate resaltada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2011680"/>
          <a:ext cx="10149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645920"/>
                <a:gridCol w="1645920"/>
                <a:gridCol w="1645920"/>
                <a:gridCol w="164592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T Serif"/>
                        </a:rPr>
                        <a:t>Herramienta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Abierta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Multiplat.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Identidad vs. hist.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Explicable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02E"/>
                          </a:solidFill>
                          <a:latin typeface="PT Serif"/>
                        </a:rPr>
                        <a:t>Socket.dev / GuardDog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~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~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02E"/>
                          </a:solidFill>
                          <a:latin typeface="PT Serif"/>
                        </a:rPr>
                        <a:t>BewAIre (Datadog, interno)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02E"/>
                          </a:solidFill>
                          <a:latin typeface="PT Serif"/>
                        </a:rPr>
                        <a:t>Phylum / Aikido / Snyk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~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n/a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23A66"/>
                          </a:solidFill>
                          <a:latin typeface="PT Serif"/>
                        </a:rPr>
                        <a:t>WatchGate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atchgat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54480"/>
            <a:ext cx="1630166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38328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Lato"/>
              </a:rPr>
              <a:t>Watch</a:t>
            </a:r>
            <a:r>
              <a:rPr sz="4400" b="1" i="0">
                <a:solidFill>
                  <a:srgbClr val="00ADCB"/>
                </a:solidFill>
                <a:latin typeface="Lato"/>
              </a:rPr>
              <a:t>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800" b="0" i="0">
                <a:solidFill>
                  <a:srgbClr val="C5D0DE"/>
                </a:solidFill>
                <a:latin typeface="PT Serif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00ADCB"/>
                </a:solidFill>
                <a:latin typeface="Roboto Mono"/>
              </a:rPr>
              <a:t>github.com/pablojimz/watch_gate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